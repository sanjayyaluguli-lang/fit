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6746" y="115381"/>
            <a:ext cx="2096942" cy="360567"/>
          </a:xfrm>
          <a:prstGeom prst="roundRect">
            <a:avLst>
              <a:gd name="adj" fmla="val 50000"/>
            </a:avLst>
          </a:prstGeom>
          <a:solidFill>
            <a:srgbClr val="1D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2000" b="1">
                <a:solidFill>
                  <a:srgbClr val="7FD11B"/>
                </a:solidFill>
                <a:latin typeface="Arial"/>
              </a:rPr>
              <a:t>{{PROJECT}}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0606" y="144227"/>
            <a:ext cx="1912999" cy="346145"/>
          </a:xfrm>
          <a:prstGeom prst="roundRect">
            <a:avLst>
              <a:gd name="adj" fmla="val 15000"/>
            </a:avLst>
          </a:prstGeom>
          <a:solidFill>
            <a:srgbClr val="7FD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800" b="1">
                <a:solidFill>
                  <a:srgbClr val="1C3A00"/>
                </a:solidFill>
                <a:latin typeface="Arial"/>
              </a:rPr>
              <a:t>Updated cw{{CW}}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746" y="620176"/>
            <a:ext cx="8093460" cy="403835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3222D"/>
                </a:solidFill>
                <a:latin typeface="Arial"/>
              </a:rPr>
              <a:t>SYS VAL PROJECT DASHBOARD REL {{RELEASE}}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7884" y="1153817"/>
            <a:ext cx="2722345" cy="2423015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1D4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884" y="1211507"/>
            <a:ext cx="2722345" cy="24518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3222D"/>
                </a:solidFill>
                <a:latin typeface="Arial"/>
              </a:rPr>
              <a:t>TEST EQUIPMENT STATUS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8615" y="1528807"/>
            <a:ext cx="2280884" cy="0"/>
          </a:xfrm>
          <a:prstGeom prst="line">
            <a:avLst/>
          </a:prstGeom>
          <a:ln w="12700">
            <a:solidFill>
              <a:srgbClr val="1D4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1461" y="1629766"/>
          <a:ext cx="2575191" cy="188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346"/>
                <a:gridCol w="588615"/>
                <a:gridCol w="588615"/>
                <a:gridCol w="588615"/>
              </a:tblGrid>
              <a:tr h="209930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3222D"/>
                          </a:solidFill>
                          <a:latin typeface="Arial"/>
                        </a:rPr>
                        <a:t>Test Platform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3222D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3222D"/>
                          </a:solidFill>
                          <a:latin typeface="Arial"/>
                        </a:rPr>
                        <a:t>Achieved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3222D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209930"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{{EQ_PLATFORM_1}}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{{EQ_PLANNED_1}}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{{EQ_ACHIEVED_1}}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{{EQ_STATUS_1}}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209930"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{{EQ_PLATFORM_2}}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{{EQ_PLANNED_2}}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{{EQ_ACHIEVED_2}}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{{EQ_STATUS_2}}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209930"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{{EQ_PLATFORM_3}}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{{EQ_PLANNED_3}}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{{EQ_ACHIEVED_3}}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{{EQ_STATUS_3}}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209930"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{{EQ_PLATFORM_4}}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{{EQ_PLANNED_4}}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{{EQ_ACHIEVED_4}}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{{EQ_STATUS_4}}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209930"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{{EQ_PLATFORM_5}}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{{EQ_PLANNED_5}}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{{EQ_ACHIEVED_5}}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{{EQ_STATUS_5}}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209930"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{{EQ_PLATFORM_6}}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{{EQ_PLANNED_6}}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{{EQ_ACHIEVED_6}}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{{EQ_STATUS_6}}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209930"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{{EQ_PLATFORM_7}}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{{EQ_PLANNED_7}}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{{EQ_ACHIEVED_7}}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{{EQ_STATUS_7}}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209930"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{{EQ_PLATFORM_8}}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{{EQ_PLANNED_8}}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13222D"/>
                          </a:solidFill>
                          <a:latin typeface="Arial"/>
                        </a:rPr>
                        <a:t>{{EQ_ACHIEVED_8}}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1">
                          <a:solidFill>
                            <a:srgbClr val="13222D"/>
                          </a:solidFill>
                          <a:latin typeface="Arial"/>
                        </a:rPr>
                        <a:t>{{EQ_STATUS_8}}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41461" y="3562410"/>
            <a:ext cx="2575192" cy="10095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600" b="0">
                <a:solidFill>
                  <a:srgbClr val="888888"/>
                </a:solidFill>
                <a:latin typeface="Arial"/>
              </a:rPr>
              <a:t>Rows come from the TPM Input form; unused rows are removed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3807" y="1139394"/>
            <a:ext cx="2781207" cy="2437438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1D4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07" y="1197085"/>
            <a:ext cx="2781207" cy="24518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3222D"/>
                </a:solidFill>
                <a:latin typeface="Arial"/>
              </a:rPr>
              <a:t>COVERAGE PROGRESS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4538" y="1514384"/>
            <a:ext cx="2339746" cy="0"/>
          </a:xfrm>
          <a:prstGeom prst="line">
            <a:avLst/>
          </a:prstGeom>
          <a:ln w="12700">
            <a:solidFill>
              <a:srgbClr val="1D4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52422" y="1701880"/>
            <a:ext cx="882923" cy="15864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3222D"/>
                </a:solidFill>
                <a:latin typeface="Arial"/>
              </a:rPr>
              <a:t>SYS.4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5345" y="1701880"/>
            <a:ext cx="882923" cy="15864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3222D"/>
                </a:solidFill>
                <a:latin typeface="Arial"/>
              </a:rPr>
              <a:t>SYS.5</a:t>
            </a:r>
          </a:p>
        </p:txBody>
      </p:sp>
      <p:sp>
        <p:nvSpPr>
          <p:cNvPr id="15" name="Oval 14"/>
          <p:cNvSpPr/>
          <p:nvPr/>
        </p:nvSpPr>
        <p:spPr>
          <a:xfrm>
            <a:off x="3906934" y="1860529"/>
            <a:ext cx="588615" cy="576908"/>
          </a:xfrm>
          <a:prstGeom prst="ellipse">
            <a:avLst/>
          </a:prstGeom>
          <a:noFill/>
          <a:ln w="889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6934" y="2048025"/>
            <a:ext cx="588615" cy="201917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3222D"/>
                </a:solidFill>
                <a:latin typeface="Arial"/>
              </a:rPr>
              <a:t>{{SYS4_COVERAGE}}</a:t>
            </a:r>
          </a:p>
        </p:txBody>
      </p:sp>
      <p:sp>
        <p:nvSpPr>
          <p:cNvPr id="17" name="Oval 16"/>
          <p:cNvSpPr/>
          <p:nvPr/>
        </p:nvSpPr>
        <p:spPr>
          <a:xfrm>
            <a:off x="4745711" y="1860529"/>
            <a:ext cx="588615" cy="576908"/>
          </a:xfrm>
          <a:prstGeom prst="ellipse">
            <a:avLst/>
          </a:prstGeom>
          <a:noFill/>
          <a:ln w="889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11" y="2048025"/>
            <a:ext cx="588615" cy="201917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3222D"/>
                </a:solidFill>
                <a:latin typeface="Arial"/>
              </a:rPr>
              <a:t>{{SYS5_COVERAGE}}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961" y="2538397"/>
            <a:ext cx="2501615" cy="173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222D"/>
                </a:solidFill>
                <a:latin typeface="Arial"/>
              </a:rPr>
              <a:t>Comments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961" y="2711470"/>
            <a:ext cx="2501615" cy="432681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3222D"/>
                </a:solidFill>
                <a:latin typeface="Arial"/>
              </a:rPr>
              <a:t>1) {{SYS4_COVERAGE}} SYS.4 coverage achieved</a:t>
            </a:r>
          </a:p>
          <a:p>
            <a:pPr algn="l"/>
            <a:r>
              <a:rPr sz="900" b="0">
                <a:solidFill>
                  <a:srgbClr val="13222D"/>
                </a:solidFill>
                <a:latin typeface="Arial"/>
              </a:rPr>
              <a:t>2) {{SYS5_COVERAGE}} SYS.5 coverage achieved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961" y="3172996"/>
            <a:ext cx="2501615" cy="34614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E02020"/>
                </a:solidFill>
                <a:latin typeface="Arial"/>
              </a:rPr>
              <a:t>{{COVERAGE_NOTE}}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8591" y="1139394"/>
            <a:ext cx="2766492" cy="2437438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1D4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8591" y="1197085"/>
            <a:ext cx="2766492" cy="24518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3222D"/>
                </a:solidFill>
                <a:latin typeface="Arial"/>
              </a:rPr>
              <a:t>TEST EFFICIENCY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39322" y="1514384"/>
            <a:ext cx="2325031" cy="0"/>
          </a:xfrm>
          <a:prstGeom prst="line">
            <a:avLst/>
          </a:prstGeom>
          <a:ln w="12700">
            <a:solidFill>
              <a:srgbClr val="1D4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06884" y="1701880"/>
            <a:ext cx="1250807" cy="15864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3222D"/>
                </a:solidFill>
                <a:latin typeface="Arial"/>
              </a:rPr>
              <a:t>SYS.5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1268" y="1701880"/>
            <a:ext cx="1250807" cy="15864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3222D"/>
                </a:solidFill>
                <a:latin typeface="Arial"/>
              </a:rPr>
              <a:t>SYS.4 Automation</a:t>
            </a:r>
          </a:p>
        </p:txBody>
      </p:sp>
      <p:sp>
        <p:nvSpPr>
          <p:cNvPr id="27" name="Oval 26"/>
          <p:cNvSpPr/>
          <p:nvPr/>
        </p:nvSpPr>
        <p:spPr>
          <a:xfrm>
            <a:off x="6290826" y="1817261"/>
            <a:ext cx="559184" cy="548063"/>
          </a:xfrm>
          <a:prstGeom prst="ellipse">
            <a:avLst/>
          </a:prstGeom>
          <a:noFill/>
          <a:ln w="889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0826" y="1990334"/>
            <a:ext cx="559184" cy="201917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3222D"/>
                </a:solidFill>
                <a:latin typeface="Arial"/>
              </a:rPr>
              <a:t>{{SYS5_AUTO_RATE}}</a:t>
            </a:r>
          </a:p>
        </p:txBody>
      </p:sp>
      <p:sp>
        <p:nvSpPr>
          <p:cNvPr id="29" name="Oval 28"/>
          <p:cNvSpPr/>
          <p:nvPr/>
        </p:nvSpPr>
        <p:spPr>
          <a:xfrm>
            <a:off x="7740291" y="1817261"/>
            <a:ext cx="559184" cy="548063"/>
          </a:xfrm>
          <a:prstGeom prst="ellipse">
            <a:avLst/>
          </a:prstGeom>
          <a:noFill/>
          <a:ln w="889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0291" y="1990334"/>
            <a:ext cx="559184" cy="201917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3222D"/>
                </a:solidFill>
                <a:latin typeface="Arial"/>
              </a:rPr>
              <a:t>{{SYS4_AUTO_RATE}}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6884" y="2394170"/>
            <a:ext cx="2501615" cy="14422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3222D"/>
                </a:solidFill>
                <a:latin typeface="Arial"/>
              </a:rPr>
              <a:t>Comments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6884" y="2523974"/>
            <a:ext cx="2575192" cy="40383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3222D"/>
                </a:solidFill>
                <a:latin typeface="Arial"/>
              </a:rPr>
              <a:t>New automation target: CW 48 (FFV)</a:t>
            </a:r>
          </a:p>
          <a:p>
            <a:pPr algn="l"/>
            <a:r>
              <a:rPr sz="750" b="0">
                <a:solidFill>
                  <a:srgbClr val="13222D"/>
                </a:solidFill>
                <a:latin typeface="Arial"/>
              </a:rPr>
              <a:t>1) SYS.4: {{SYS4_AUTO_COUNT}} auto / {{SYS4_MANUAL_COUNT}} manual</a:t>
            </a:r>
          </a:p>
          <a:p>
            <a:pPr algn="l"/>
            <a:r>
              <a:rPr sz="750" b="0">
                <a:solidFill>
                  <a:srgbClr val="13222D"/>
                </a:solidFill>
                <a:latin typeface="Arial"/>
              </a:rPr>
              <a:t>2) SYS.5: {{SYS5_AUTO_COUNT}} auto / {{SYS5_MANUAL_COUNT}} manual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6884" y="2985501"/>
            <a:ext cx="1250807" cy="15864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3222D"/>
                </a:solidFill>
                <a:latin typeface="Arial"/>
              </a:rPr>
              <a:t>Test Duration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1268" y="2971078"/>
            <a:ext cx="691623" cy="173072"/>
          </a:xfrm>
          <a:prstGeom prst="roundRect">
            <a:avLst/>
          </a:prstGeom>
          <a:solidFill>
            <a:srgbClr val="FFC000"/>
          </a:solidFill>
          <a:ln w="12700">
            <a:solidFill>
              <a:srgbClr val="D9A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13222D"/>
                </a:solidFill>
                <a:latin typeface="Arial"/>
              </a:rPr>
              <a:t>14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6884" y="3172996"/>
            <a:ext cx="2575192" cy="37499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3222D"/>
                </a:solidFill>
                <a:latin typeface="Arial"/>
              </a:rPr>
              <a:t>Comments :</a:t>
            </a:r>
          </a:p>
          <a:p>
            <a:pPr algn="l"/>
            <a:r>
              <a:rPr sz="750" b="0">
                <a:solidFill>
                  <a:srgbClr val="13222D"/>
                </a:solidFill>
                <a:latin typeface="Arial"/>
              </a:rPr>
              <a:t>1) Test Duration reduced starting from cw19 (-3d) - done</a:t>
            </a:r>
          </a:p>
          <a:p>
            <a:pPr algn="l"/>
            <a:r>
              <a:rPr sz="750" b="0">
                <a:solidFill>
                  <a:srgbClr val="13222D"/>
                </a:solidFill>
                <a:latin typeface="Arial"/>
              </a:rPr>
              <a:t>2) Further improvements to be assessed (cw21) - done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51303" y="1139394"/>
            <a:ext cx="3119661" cy="2437438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1D4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51303" y="1197085"/>
            <a:ext cx="3119661" cy="24518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3222D"/>
                </a:solidFill>
                <a:latin typeface="Arial"/>
              </a:rPr>
              <a:t>TEST EXECUTION PROGRESS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072033" y="1514384"/>
            <a:ext cx="2678200" cy="0"/>
          </a:xfrm>
          <a:prstGeom prst="line">
            <a:avLst/>
          </a:prstGeom>
          <a:ln w="12700">
            <a:solidFill>
              <a:srgbClr val="1D4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197114" y="1701880"/>
            <a:ext cx="250161" cy="432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4106" y="1745148"/>
            <a:ext cx="632761" cy="115381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00" b="0">
                <a:solidFill>
                  <a:srgbClr val="13222D"/>
                </a:solidFill>
                <a:latin typeface="Arial"/>
              </a:rPr>
              <a:t>TC planned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44591" y="1701880"/>
            <a:ext cx="250161" cy="43268"/>
          </a:xfrm>
          <a:prstGeom prst="rect">
            <a:avLst/>
          </a:prstGeom>
          <a:solidFill>
            <a:srgbClr val="1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41583" y="1745148"/>
            <a:ext cx="632761" cy="115381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00" b="0">
                <a:solidFill>
                  <a:srgbClr val="13222D"/>
                </a:solidFill>
                <a:latin typeface="Arial"/>
              </a:rPr>
              <a:t>TC Executed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92068" y="1701880"/>
            <a:ext cx="250161" cy="43268"/>
          </a:xfrm>
          <a:prstGeom prst="rect">
            <a:avLst/>
          </a:prstGeom>
          <a:solidFill>
            <a:srgbClr val="7F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89060" y="1745148"/>
            <a:ext cx="632761" cy="115381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00" b="0">
                <a:solidFill>
                  <a:srgbClr val="13222D"/>
                </a:solidFill>
                <a:latin typeface="Arial"/>
              </a:rPr>
              <a:t>Passed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139545" y="1701880"/>
            <a:ext cx="250161" cy="43268"/>
          </a:xfrm>
          <a:prstGeom prst="rect">
            <a:avLst/>
          </a:prstGeom>
          <a:solidFill>
            <a:srgbClr val="E0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36537" y="1745148"/>
            <a:ext cx="632761" cy="115381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00" b="0">
                <a:solidFill>
                  <a:srgbClr val="13222D"/>
                </a:solidFill>
                <a:latin typeface="Arial"/>
              </a:rPr>
              <a:t>Failed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8091" y="1889375"/>
            <a:ext cx="515038" cy="28845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3222D"/>
                </a:solidFill>
                <a:latin typeface="Arial"/>
              </a:rPr>
              <a:t>SYS.4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88414" y="1903798"/>
            <a:ext cx="625403" cy="25960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{{SYS4_TC_PLANNED}}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13818" y="1903798"/>
            <a:ext cx="625403" cy="259608"/>
          </a:xfrm>
          <a:prstGeom prst="rect">
            <a:avLst/>
          </a:prstGeom>
          <a:solidFill>
            <a:srgbClr val="1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{{SYS4_TC_EXECUTED}}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39222" y="1903798"/>
            <a:ext cx="625403" cy="259608"/>
          </a:xfrm>
          <a:prstGeom prst="rect">
            <a:avLst/>
          </a:prstGeom>
          <a:solidFill>
            <a:srgbClr val="7F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{{SYS4_TC_PASSED}}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264626" y="1903798"/>
            <a:ext cx="625403" cy="259608"/>
          </a:xfrm>
          <a:prstGeom prst="rect">
            <a:avLst/>
          </a:prstGeom>
          <a:solidFill>
            <a:srgbClr val="E0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{{SYS4_TC_FAILED}}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8091" y="2264365"/>
            <a:ext cx="515038" cy="28845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3222D"/>
                </a:solidFill>
                <a:latin typeface="Arial"/>
              </a:rPr>
              <a:t>SYS.5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88414" y="2278788"/>
            <a:ext cx="625403" cy="25960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{{SYS5_TC_PLANNED}}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13818" y="2278788"/>
            <a:ext cx="625403" cy="259608"/>
          </a:xfrm>
          <a:prstGeom prst="rect">
            <a:avLst/>
          </a:prstGeom>
          <a:solidFill>
            <a:srgbClr val="1F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{{SYS5_TC_EXECUTED}}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39222" y="2278788"/>
            <a:ext cx="625403" cy="259608"/>
          </a:xfrm>
          <a:prstGeom prst="rect">
            <a:avLst/>
          </a:prstGeom>
          <a:solidFill>
            <a:srgbClr val="7F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{{SYS5_TC_PASSED}}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264626" y="2278788"/>
            <a:ext cx="625403" cy="259608"/>
          </a:xfrm>
          <a:prstGeom prst="rect">
            <a:avLst/>
          </a:prstGeom>
          <a:solidFill>
            <a:srgbClr val="E0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{{SYS5_TC_FAILED}}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76383" y="2682624"/>
            <a:ext cx="2869499" cy="14422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3222D"/>
                </a:solidFill>
                <a:latin typeface="Arial"/>
              </a:rPr>
              <a:t>Comments 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76383" y="2826851"/>
            <a:ext cx="2869499" cy="64902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3222D"/>
                </a:solidFill>
                <a:latin typeface="Arial"/>
              </a:rPr>
              <a:t>1) Execution started on CW38.1</a:t>
            </a:r>
          </a:p>
          <a:p>
            <a:pPr algn="l"/>
            <a:r>
              <a:rPr sz="800" b="0">
                <a:solidFill>
                  <a:srgbClr val="13222D"/>
                </a:solidFill>
                <a:latin typeface="Arial"/>
              </a:rPr>
              <a:t>2) SysBL Audit date 30..09.2026 - YELLOW release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53169" y="3735482"/>
            <a:ext cx="2751776" cy="2423015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1D4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3169" y="3793173"/>
            <a:ext cx="2751776" cy="24518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3222D"/>
                </a:solidFill>
                <a:latin typeface="Arial"/>
              </a:rPr>
              <a:t>Bug escape rate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73899" y="4110473"/>
            <a:ext cx="2310316" cy="0"/>
          </a:xfrm>
          <a:prstGeom prst="line">
            <a:avLst/>
          </a:prstGeom>
          <a:ln w="12700">
            <a:solidFill>
              <a:srgbClr val="1D4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18046" y="4413350"/>
            <a:ext cx="647476" cy="634599"/>
          </a:xfrm>
          <a:prstGeom prst="ellipse">
            <a:avLst/>
          </a:prstGeom>
          <a:noFill/>
          <a:ln w="889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8046" y="4629690"/>
            <a:ext cx="647476" cy="201917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3222D"/>
                </a:solidFill>
                <a:latin typeface="Arial"/>
              </a:rPr>
              <a:t>{{BUG_RATE}}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5607" y="5206599"/>
            <a:ext cx="2501615" cy="15864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3222D"/>
                </a:solidFill>
                <a:latin typeface="Arial"/>
              </a:rPr>
              <a:t>Comments 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5607" y="5379671"/>
            <a:ext cx="2575192" cy="749981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3222D"/>
                </a:solidFill>
                <a:latin typeface="Arial"/>
              </a:rPr>
              <a:t>{{BUG_COMMENT}}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58115" y="3749905"/>
            <a:ext cx="1942430" cy="288454"/>
          </a:xfrm>
          <a:prstGeom prst="rect">
            <a:avLst/>
          </a:prstGeom>
          <a:solidFill>
            <a:srgbClr val="1D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SUPPORT REQUIRED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3413968" y="4168164"/>
          <a:ext cx="8520205" cy="2199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23"/>
                <a:gridCol w="3384538"/>
                <a:gridCol w="1265522"/>
                <a:gridCol w="1618692"/>
                <a:gridCol w="1751130"/>
              </a:tblGrid>
              <a:tr h="31729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</a:rPr>
                        <a:t>N°</a:t>
                      </a:r>
                    </a:p>
                  </a:txBody>
                  <a:tcPr anchor="ctr">
                    <a:solidFill>
                      <a:srgbClr val="1D4B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</a:rPr>
                        <a:t>ACTION ITEM</a:t>
                      </a:r>
                    </a:p>
                  </a:txBody>
                  <a:tcPr anchor="ctr">
                    <a:solidFill>
                      <a:srgbClr val="1D4B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</a:rPr>
                        <a:t>RESPONSIBLE</a:t>
                      </a:r>
                    </a:p>
                  </a:txBody>
                  <a:tcPr anchor="ctr">
                    <a:solidFill>
                      <a:srgbClr val="1D4B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</a:rPr>
                        <a:t>DUE DATE</a:t>
                      </a:r>
                    </a:p>
                  </a:txBody>
                  <a:tcPr anchor="ctr">
                    <a:solidFill>
                      <a:srgbClr val="1D4B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>
                    <a:solidFill>
                      <a:srgbClr val="1D4B6E"/>
                    </a:solidFill>
                  </a:tcPr>
                </a:tc>
              </a:tr>
              <a:tr h="6273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1D4B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{{ACTION_1}}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{{RESP_1}}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{{DUE_1}}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{{STATUS_1}}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6273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1D4B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{{ACTION_2}}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{{RESP_2}}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{{DUE_2}}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{{STATUS_2}}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6273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1D4B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{{ACTION_3}}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{{RESP_3}}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{{DUE_3}}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3222D"/>
                          </a:solidFill>
                          <a:latin typeface="Arial"/>
                        </a:rPr>
                        <a:t>{{STATUS_3}}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382599" y="6418107"/>
            <a:ext cx="3090230" cy="15864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Valeo   Driving Change Together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29230" y="6418107"/>
            <a:ext cx="3163807" cy="15864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1D4B6E"/>
                </a:solidFill>
                <a:latin typeface="Arial"/>
              </a:rPr>
              <a:t>Strictly private &amp; confidential   |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